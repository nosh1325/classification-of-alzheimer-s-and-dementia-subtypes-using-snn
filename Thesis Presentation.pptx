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Inter"/>
      <p:bold r:id="rId28"/>
      <p:boldItalic r:id="rId29"/>
    </p:embeddedFont>
    <p:embeddedFont>
      <p:font typeface="Poppins Medium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p/i/ghj78J11i5GKh8gV2R0Bj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.fntdata"/><Relationship Id="rId30" Type="http://schemas.openxmlformats.org/officeDocument/2006/relationships/font" Target="fonts/Poppi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italic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c9f96b9d_2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5c9f96b9d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5c9f96b9d_7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5c9f96b9d_7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5c9f96b9d_7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85c9f96b9d_7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c9f96b9d_7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85c9f96b9d_7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5c9f96b9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85c9f96b9d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c9f96b9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5c9f96b9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5c9f96b9d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85c9f96b9d_5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5c9f96b9d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5c9f96b9d_5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85c9f96b9d_7_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85c9f96b9d_7_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85c9f96b9d_7_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c9f96b9d_7_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85c9f96b9d_7_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g385c9f96b9d_7_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85c9f96b9d_7_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85c9f96b9d_7_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85c9f96b9d_7_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85c9f96b9d_7_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g385c9f96b9d_7_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85c9f96b9d_7_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85c9f96b9d_7_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c9f96b9d_7_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85c9f96b9d_7_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385c9f96b9d_7_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85c9f96b9d_7_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85c9f96b9d_7_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85c9f96b9d_7_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85c9f96b9d_7_31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g385c9f96b9d_7_31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g385c9f96b9d_7_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85c9f96b9d_7_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85c9f96b9d_7_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85c9f96b9d_7_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85c9f96b9d_7_38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385c9f96b9d_7_38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g385c9f96b9d_7_38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85c9f96b9d_7_38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385c9f96b9d_7_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85c9f96b9d_7_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85c9f96b9d_7_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5c9f96b9d_7_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85c9f96b9d_7_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85c9f96b9d_7_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85c9f96b9d_7_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5c9f96b9d_7_5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85c9f96b9d_7_5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385c9f96b9d_7_5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g385c9f96b9d_7_5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85c9f96b9d_7_5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85c9f96b9d_7_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5c9f96b9d_7_59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85c9f96b9d_7_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85c9f96b9d_7_59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g385c9f96b9d_7_5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85c9f96b9d_7_5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85c9f96b9d_7_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5c9f96b9d_7_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85c9f96b9d_7_66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85c9f96b9d_7_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85c9f96b9d_7_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85c9f96b9d_7_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5c9f96b9d_7_7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85c9f96b9d_7_7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85c9f96b9d_7_7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85c9f96b9d_7_7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85c9f96b9d_7_7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5c9f96b9d_7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85c9f96b9d_7_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85c9f96b9d_7_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85c9f96b9d_7_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85c9f96b9d_7_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10.jpg"/><Relationship Id="rId7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7" name="Google Shape;87;p1"/>
          <p:cNvCxnSpPr/>
          <p:nvPr/>
        </p:nvCxnSpPr>
        <p:spPr>
          <a:xfrm>
            <a:off x="17259300" y="7054155"/>
            <a:ext cx="0" cy="2610617"/>
          </a:xfrm>
          <a:prstGeom prst="straightConnector1">
            <a:avLst/>
          </a:prstGeom>
          <a:noFill/>
          <a:ln cap="flat" cmpd="sng" w="123825">
            <a:solidFill>
              <a:srgbClr val="BBDECD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88" name="Google Shape;88;p1"/>
          <p:cNvGrpSpPr/>
          <p:nvPr/>
        </p:nvGrpSpPr>
        <p:grpSpPr>
          <a:xfrm>
            <a:off x="13315800" y="-180826"/>
            <a:ext cx="4972211" cy="795585"/>
            <a:chOff x="0" y="-47625"/>
            <a:chExt cx="1309545" cy="719205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309545" cy="671580"/>
            </a:xfrm>
            <a:custGeom>
              <a:rect b="b" l="l" r="r" t="t"/>
              <a:pathLst>
                <a:path extrusionOk="0" h="671580" w="1309545">
                  <a:moveTo>
                    <a:pt x="0" y="0"/>
                  </a:moveTo>
                  <a:lnTo>
                    <a:pt x="1309545" y="0"/>
                  </a:lnTo>
                  <a:lnTo>
                    <a:pt x="1309545" y="671580"/>
                  </a:lnTo>
                  <a:lnTo>
                    <a:pt x="0" y="671580"/>
                  </a:ln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1309545" cy="719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0" y="9511149"/>
            <a:ext cx="4377946" cy="1139907"/>
            <a:chOff x="0" y="-47625"/>
            <a:chExt cx="1639680" cy="307385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639680" cy="259760"/>
            </a:xfrm>
            <a:custGeom>
              <a:rect b="b" l="l" r="r" t="t"/>
              <a:pathLst>
                <a:path extrusionOk="0" h="259760" w="1639680">
                  <a:moveTo>
                    <a:pt x="0" y="0"/>
                  </a:moveTo>
                  <a:lnTo>
                    <a:pt x="1639680" y="0"/>
                  </a:lnTo>
                  <a:lnTo>
                    <a:pt x="1639680" y="259760"/>
                  </a:lnTo>
                  <a:lnTo>
                    <a:pt x="0" y="259760"/>
                  </a:ln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1639680" cy="307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>
            <a:off x="1028700" y="1650269"/>
            <a:ext cx="0" cy="2610617"/>
          </a:xfrm>
          <a:prstGeom prst="straightConnector1">
            <a:avLst/>
          </a:prstGeom>
          <a:noFill/>
          <a:ln cap="flat" cmpd="sng" w="123825">
            <a:solidFill>
              <a:srgbClr val="BBDECD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>
            <a:off x="0" y="-180826"/>
            <a:ext cx="589821" cy="10472871"/>
            <a:chOff x="0" y="-47625"/>
            <a:chExt cx="155344" cy="2758287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55344" cy="2710662"/>
            </a:xfrm>
            <a:custGeom>
              <a:rect b="b" l="l" r="r" t="t"/>
              <a:pathLst>
                <a:path extrusionOk="0" h="2710662" w="155344">
                  <a:moveTo>
                    <a:pt x="0" y="0"/>
                  </a:moveTo>
                  <a:lnTo>
                    <a:pt x="155344" y="0"/>
                  </a:lnTo>
                  <a:lnTo>
                    <a:pt x="155344" y="2710662"/>
                  </a:lnTo>
                  <a:lnTo>
                    <a:pt x="0" y="2710662"/>
                  </a:ln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</p:sp>
        <p:sp>
          <p:nvSpPr>
            <p:cNvPr id="97" name="Google Shape;97;p1"/>
            <p:cNvSpPr txBox="1"/>
            <p:nvPr/>
          </p:nvSpPr>
          <p:spPr>
            <a:xfrm>
              <a:off x="0" y="-47625"/>
              <a:ext cx="155344" cy="2758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7698179" y="-180826"/>
            <a:ext cx="589821" cy="10472871"/>
            <a:chOff x="0" y="-47625"/>
            <a:chExt cx="155344" cy="2758287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55344" cy="2710662"/>
            </a:xfrm>
            <a:custGeom>
              <a:rect b="b" l="l" r="r" t="t"/>
              <a:pathLst>
                <a:path extrusionOk="0" h="2710662" w="155344">
                  <a:moveTo>
                    <a:pt x="0" y="0"/>
                  </a:moveTo>
                  <a:lnTo>
                    <a:pt x="155344" y="0"/>
                  </a:lnTo>
                  <a:lnTo>
                    <a:pt x="155344" y="2710662"/>
                  </a:lnTo>
                  <a:lnTo>
                    <a:pt x="0" y="2710662"/>
                  </a:ln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</p:sp>
        <p:sp>
          <p:nvSpPr>
            <p:cNvPr id="100" name="Google Shape;100;p1"/>
            <p:cNvSpPr txBox="1"/>
            <p:nvPr/>
          </p:nvSpPr>
          <p:spPr>
            <a:xfrm>
              <a:off x="0" y="-47625"/>
              <a:ext cx="155344" cy="2758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7022970" y="6203612"/>
            <a:ext cx="472661" cy="472661"/>
            <a:chOff x="0" y="0"/>
            <a:chExt cx="812800" cy="812800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"/>
          <p:cNvSpPr txBox="1"/>
          <p:nvPr/>
        </p:nvSpPr>
        <p:spPr>
          <a:xfrm>
            <a:off x="1146887" y="2497288"/>
            <a:ext cx="16433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507563"/>
                </a:solidFill>
              </a:rPr>
              <a:t>Classification of Alzheimer’s and Dementia Subtypes Using</a:t>
            </a:r>
            <a:endParaRPr b="1" sz="4500">
              <a:solidFill>
                <a:srgbClr val="507563"/>
              </a:solidFill>
            </a:endParaRPr>
          </a:p>
          <a:p>
            <a:pPr indent="0" lvl="0" marL="0" marR="0" rtl="0" algn="ctr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507563"/>
                </a:solidFill>
              </a:rPr>
              <a:t>R-STDP Driven Spiking Neural Networks</a:t>
            </a:r>
            <a:endParaRPr b="1" sz="4500">
              <a:solidFill>
                <a:srgbClr val="507563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2282774" y="8872110"/>
            <a:ext cx="44601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1" u="none" cap="none" strike="noStrike">
                <a:solidFill>
                  <a:srgbClr val="507563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349275" y="489950"/>
            <a:ext cx="175500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21">
                <a:solidFill>
                  <a:srgbClr val="507563"/>
                </a:solidFill>
              </a:rPr>
              <a:t>Significance of our research</a:t>
            </a:r>
            <a:endParaRPr/>
          </a:p>
        </p:txBody>
      </p:sp>
      <p:grpSp>
        <p:nvGrpSpPr>
          <p:cNvPr id="111" name="Google Shape;111;p3"/>
          <p:cNvGrpSpPr/>
          <p:nvPr/>
        </p:nvGrpSpPr>
        <p:grpSpPr>
          <a:xfrm>
            <a:off x="-19725" y="2132700"/>
            <a:ext cx="18288009" cy="8154288"/>
            <a:chOff x="0" y="-96559"/>
            <a:chExt cx="5532600" cy="2151300"/>
          </a:xfrm>
        </p:grpSpPr>
        <p:sp>
          <p:nvSpPr>
            <p:cNvPr id="112" name="Google Shape;112;p3"/>
            <p:cNvSpPr/>
            <p:nvPr/>
          </p:nvSpPr>
          <p:spPr>
            <a:xfrm>
              <a:off x="0" y="0"/>
              <a:ext cx="5532560" cy="1719716"/>
            </a:xfrm>
            <a:custGeom>
              <a:rect b="b" l="l" r="r" t="t"/>
              <a:pathLst>
                <a:path extrusionOk="0" h="1719716" w="5532560">
                  <a:moveTo>
                    <a:pt x="0" y="0"/>
                  </a:moveTo>
                  <a:lnTo>
                    <a:pt x="5532560" y="0"/>
                  </a:lnTo>
                  <a:lnTo>
                    <a:pt x="5532560" y="1719716"/>
                  </a:lnTo>
                  <a:lnTo>
                    <a:pt x="0" y="1719716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113" name="Google Shape;113;p3"/>
            <p:cNvSpPr txBox="1"/>
            <p:nvPr/>
          </p:nvSpPr>
          <p:spPr>
            <a:xfrm>
              <a:off x="0" y="-96559"/>
              <a:ext cx="5532600" cy="21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7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3"/>
          <p:cNvSpPr txBox="1"/>
          <p:nvPr/>
        </p:nvSpPr>
        <p:spPr>
          <a:xfrm>
            <a:off x="919400" y="4516175"/>
            <a:ext cx="82545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Medium"/>
              <a:buChar char="●"/>
            </a:pPr>
            <a:r>
              <a:rPr lang="en-US" sz="3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Current diagnostic methods — slow, subjective, and resource-intensive</a:t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Medium"/>
              <a:buChar char="●"/>
            </a:pPr>
            <a:r>
              <a:rPr lang="en-US" sz="3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Traditional deep learning models — computationally expensive and energy-inefficient</a:t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Medium"/>
              <a:buChar char="●"/>
            </a:pPr>
            <a:r>
              <a:rPr lang="en-US" sz="3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Biologically implausible</a:t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47600" y="3242313"/>
            <a:ext cx="121707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Current research gaps that we addressed</a:t>
            </a:r>
            <a:endParaRPr sz="44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3575" y="4888625"/>
            <a:ext cx="8254500" cy="41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g385c9f96b9d_2_9"/>
          <p:cNvGrpSpPr/>
          <p:nvPr/>
        </p:nvGrpSpPr>
        <p:grpSpPr>
          <a:xfrm>
            <a:off x="-4100" y="1"/>
            <a:ext cx="9033983" cy="11915811"/>
            <a:chOff x="0" y="-47625"/>
            <a:chExt cx="2034085" cy="3138300"/>
          </a:xfrm>
        </p:grpSpPr>
        <p:sp>
          <p:nvSpPr>
            <p:cNvPr id="122" name="Google Shape;122;g385c9f96b9d_2_9"/>
            <p:cNvSpPr/>
            <p:nvPr/>
          </p:nvSpPr>
          <p:spPr>
            <a:xfrm>
              <a:off x="0" y="0"/>
              <a:ext cx="1989671" cy="3090597"/>
            </a:xfrm>
            <a:custGeom>
              <a:rect b="b" l="l" r="r" t="t"/>
              <a:pathLst>
                <a:path extrusionOk="0"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123" name="Google Shape;123;g385c9f96b9d_2_9"/>
            <p:cNvSpPr txBox="1"/>
            <p:nvPr/>
          </p:nvSpPr>
          <p:spPr>
            <a:xfrm>
              <a:off x="44485" y="-47625"/>
              <a:ext cx="1989600" cy="31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g385c9f96b9d_2_9"/>
          <p:cNvSpPr txBox="1"/>
          <p:nvPr/>
        </p:nvSpPr>
        <p:spPr>
          <a:xfrm>
            <a:off x="5022975" y="807700"/>
            <a:ext cx="86655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21">
                <a:solidFill>
                  <a:srgbClr val="507563"/>
                </a:solidFill>
              </a:rPr>
              <a:t>Literature Review</a:t>
            </a:r>
            <a:r>
              <a:rPr b="1" lang="en-US" sz="7521">
                <a:solidFill>
                  <a:srgbClr val="507563"/>
                </a:solidFill>
              </a:rPr>
              <a:t> </a:t>
            </a:r>
            <a:endParaRPr sz="100"/>
          </a:p>
        </p:txBody>
      </p:sp>
      <p:sp>
        <p:nvSpPr>
          <p:cNvPr id="125" name="Google Shape;125;g385c9f96b9d_2_9"/>
          <p:cNvSpPr txBox="1"/>
          <p:nvPr/>
        </p:nvSpPr>
        <p:spPr>
          <a:xfrm>
            <a:off x="-150" y="2681850"/>
            <a:ext cx="8665500" cy="7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Medium"/>
              <a:buChar char="❖"/>
            </a:pPr>
            <a:r>
              <a:rPr lang="en-US" sz="3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Classification of Alzheimer’s Disease Using Deep Convolutional Spiking Neural Network</a:t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6" name="Google Shape;126;g385c9f96b9d_2_9"/>
          <p:cNvSpPr txBox="1"/>
          <p:nvPr/>
        </p:nvSpPr>
        <p:spPr>
          <a:xfrm>
            <a:off x="9107175" y="2681850"/>
            <a:ext cx="9180600" cy="7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Medium"/>
              <a:buChar char="❖"/>
            </a:pPr>
            <a:r>
              <a:rPr lang="en-US" sz="3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Spiking Neural Networks for Multimodal Neuroimaging: A Comprehensive Review of Current Trends and the NeuCube Brain-Inspired Architecture</a:t>
            </a:r>
            <a:endParaRPr sz="3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7" name="Google Shape;127;g385c9f96b9d_2_9"/>
          <p:cNvSpPr txBox="1"/>
          <p:nvPr/>
        </p:nvSpPr>
        <p:spPr>
          <a:xfrm>
            <a:off x="402025" y="3951625"/>
            <a:ext cx="8111400" cy="6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1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1" lang="en-US" sz="281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ain contributions</a:t>
            </a:r>
            <a:r>
              <a:rPr b="1" lang="en-US" sz="261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2619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949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9"/>
              <a:buFont typeface="Poppins Medium"/>
              <a:buChar char="●"/>
            </a:pPr>
            <a:r>
              <a:rPr lang="en-US" sz="2619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Integrating SNN with CNN for Alzheimer’s detection.</a:t>
            </a:r>
            <a:endParaRPr sz="2619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949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9"/>
              <a:buFont typeface="Poppins Medium"/>
              <a:buChar char="●"/>
            </a:pPr>
            <a:r>
              <a:rPr lang="en-US" sz="2619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Using unsupervised spike pre-training to extract Alzheimer’s features before supervised learning.</a:t>
            </a:r>
            <a:endParaRPr sz="2619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949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9"/>
              <a:buFont typeface="Poppins Medium"/>
              <a:buChar char="●"/>
            </a:pPr>
            <a:r>
              <a:rPr lang="en-US" sz="2619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Application of time-to-first-spike temporal encoding, enabling biologically inspired spike-based feature learning.</a:t>
            </a:r>
            <a:endParaRPr sz="2619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949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9"/>
              <a:buFont typeface="Poppins Medium"/>
              <a:buChar char="●"/>
            </a:pPr>
            <a:r>
              <a:rPr lang="en-US" sz="2619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Accuracy up to 90.15%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85c9f96b9d_2_9"/>
          <p:cNvSpPr txBox="1"/>
          <p:nvPr/>
        </p:nvSpPr>
        <p:spPr>
          <a:xfrm>
            <a:off x="9086100" y="5011925"/>
            <a:ext cx="9033900" cy="4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Main contributions</a:t>
            </a:r>
            <a:r>
              <a:rPr b="1" lang="en-US" sz="2619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2619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Medium"/>
              <a:buChar char="●"/>
            </a:pPr>
            <a:r>
              <a:rPr lang="en-US" sz="2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Introduced NeuCube as a 3D brain-inspired SNN framework</a:t>
            </a:r>
            <a:endParaRPr sz="2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Medium"/>
              <a:buChar char="●"/>
            </a:pPr>
            <a:r>
              <a:rPr lang="en-US" sz="2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comparative evaluation of SNN software and hardware platforms</a:t>
            </a:r>
            <a:endParaRPr sz="2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Medium"/>
              <a:buChar char="●"/>
            </a:pPr>
            <a:r>
              <a:rPr lang="en-US" sz="2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97% accuracy in epilepsy and cognitive state classification</a:t>
            </a:r>
            <a:endParaRPr sz="2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9" name="Google Shape;129;g385c9f96b9d_2_9"/>
          <p:cNvSpPr txBox="1"/>
          <p:nvPr/>
        </p:nvSpPr>
        <p:spPr>
          <a:xfrm>
            <a:off x="402025" y="9548100"/>
            <a:ext cx="799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E. Turkson et al., “Classification of alzheimer’s disease using deep convolutional spiking neural network,” 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Processing Letters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2021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85c9f96b9d_2_9"/>
          <p:cNvSpPr txBox="1"/>
          <p:nvPr/>
        </p:nvSpPr>
        <p:spPr>
          <a:xfrm>
            <a:off x="9088425" y="9319775"/>
            <a:ext cx="91806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Garcia-Palencia et al., Spiking Neural Networks for Multimodal Neuroimaging: A Comprehensive Review of Current Trends and the NeuCube Brain-Inspired Architecture. </a:t>
            </a:r>
            <a:r>
              <a:rPr i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Bioengineering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4"/>
          <p:cNvGrpSpPr/>
          <p:nvPr/>
        </p:nvGrpSpPr>
        <p:grpSpPr>
          <a:xfrm>
            <a:off x="-1905375" y="-2044550"/>
            <a:ext cx="12665456" cy="15656479"/>
            <a:chOff x="0" y="0"/>
            <a:chExt cx="812800" cy="812800"/>
          </a:xfrm>
        </p:grpSpPr>
        <p:sp>
          <p:nvSpPr>
            <p:cNvPr id="136" name="Google Shape;136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4"/>
          <p:cNvSpPr txBox="1"/>
          <p:nvPr/>
        </p:nvSpPr>
        <p:spPr>
          <a:xfrm>
            <a:off x="425800" y="3902125"/>
            <a:ext cx="10050300" cy="86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18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18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419100" lvl="0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training complexity 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●"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computational complexity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Poor performance of SNNs on static MRI data compared to CNNs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186150" y="1988700"/>
            <a:ext cx="77235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4657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Existing Research shortcomings:</a:t>
            </a:r>
            <a:endParaRPr sz="5400">
              <a:solidFill>
                <a:srgbClr val="465739"/>
              </a:solidFill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1207475" y="782700"/>
            <a:ext cx="66213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507563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6000">
              <a:solidFill>
                <a:srgbClr val="507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1207225" y="2412300"/>
            <a:ext cx="6621300" cy="7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70">
                <a:solidFill>
                  <a:schemeClr val="dk1"/>
                </a:solidFill>
              </a:rPr>
              <a:t>Designing a model to address the challenges of early detection of subtle neurostructural alterations caused by dementia and Alzheimer’s disease using a neuromorphic feature extraction framework integrating temporal spike encoding with Forward-Forward learning to enable efficient and accurate classification.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0"/>
          <p:cNvGrpSpPr/>
          <p:nvPr/>
        </p:nvGrpSpPr>
        <p:grpSpPr>
          <a:xfrm>
            <a:off x="0" y="2342200"/>
            <a:ext cx="9827099" cy="3774977"/>
            <a:chOff x="0" y="-47625"/>
            <a:chExt cx="2588190" cy="1048139"/>
          </a:xfrm>
        </p:grpSpPr>
        <p:sp>
          <p:nvSpPr>
            <p:cNvPr id="147" name="Google Shape;147;p10"/>
            <p:cNvSpPr/>
            <p:nvPr/>
          </p:nvSpPr>
          <p:spPr>
            <a:xfrm>
              <a:off x="0" y="0"/>
              <a:ext cx="2588190" cy="1000514"/>
            </a:xfrm>
            <a:custGeom>
              <a:rect b="b" l="l" r="r" t="t"/>
              <a:pathLst>
                <a:path extrusionOk="0"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148" name="Google Shape;148;p10"/>
            <p:cNvSpPr txBox="1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0"/>
          <p:cNvGrpSpPr/>
          <p:nvPr/>
        </p:nvGrpSpPr>
        <p:grpSpPr>
          <a:xfrm>
            <a:off x="-8" y="6108267"/>
            <a:ext cx="9827099" cy="3979679"/>
            <a:chOff x="0" y="-47625"/>
            <a:chExt cx="2588190" cy="1048139"/>
          </a:xfrm>
        </p:grpSpPr>
        <p:sp>
          <p:nvSpPr>
            <p:cNvPr id="150" name="Google Shape;150;p10"/>
            <p:cNvSpPr/>
            <p:nvPr/>
          </p:nvSpPr>
          <p:spPr>
            <a:xfrm>
              <a:off x="0" y="0"/>
              <a:ext cx="2588190" cy="1000514"/>
            </a:xfrm>
            <a:custGeom>
              <a:rect b="b" l="l" r="r" t="t"/>
              <a:pathLst>
                <a:path extrusionOk="0"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</p:sp>
        <p:sp>
          <p:nvSpPr>
            <p:cNvPr id="151" name="Google Shape;151;p10"/>
            <p:cNvSpPr txBox="1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0"/>
          <p:cNvSpPr txBox="1"/>
          <p:nvPr/>
        </p:nvSpPr>
        <p:spPr>
          <a:xfrm>
            <a:off x="2403075" y="521151"/>
            <a:ext cx="134820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21">
                <a:solidFill>
                  <a:srgbClr val="507563"/>
                </a:solidFill>
              </a:rPr>
              <a:t>Novelty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415975" y="4156375"/>
            <a:ext cx="845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-373500" y="7391575"/>
            <a:ext cx="88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15975" y="3797950"/>
            <a:ext cx="77190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iologically inspired</a:t>
            </a:r>
            <a:endParaRPr b="1" sz="3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neuromorphic design</a:t>
            </a:r>
            <a:endParaRPr b="1" sz="403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1251475" y="7491663"/>
            <a:ext cx="60480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emporal</a:t>
            </a: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spike encoding</a:t>
            </a:r>
            <a:endParaRPr b="1" sz="3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 MRI images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7" name="Google Shape;157;p10"/>
          <p:cNvGrpSpPr/>
          <p:nvPr/>
        </p:nvGrpSpPr>
        <p:grpSpPr>
          <a:xfrm>
            <a:off x="8454900" y="2476562"/>
            <a:ext cx="9827099" cy="3640605"/>
            <a:chOff x="0" y="0"/>
            <a:chExt cx="2588190" cy="1019206"/>
          </a:xfrm>
        </p:grpSpPr>
        <p:sp>
          <p:nvSpPr>
            <p:cNvPr id="158" name="Google Shape;158;p10"/>
            <p:cNvSpPr/>
            <p:nvPr/>
          </p:nvSpPr>
          <p:spPr>
            <a:xfrm>
              <a:off x="0" y="0"/>
              <a:ext cx="2588190" cy="1000514"/>
            </a:xfrm>
            <a:custGeom>
              <a:rect b="b" l="l" r="r" t="t"/>
              <a:pathLst>
                <a:path extrusionOk="0"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</p:sp>
        <p:sp>
          <p:nvSpPr>
            <p:cNvPr id="159" name="Google Shape;159;p10"/>
            <p:cNvSpPr txBox="1"/>
            <p:nvPr/>
          </p:nvSpPr>
          <p:spPr>
            <a:xfrm>
              <a:off x="46" y="83206"/>
              <a:ext cx="2588100" cy="9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0"/>
          <p:cNvGrpSpPr/>
          <p:nvPr/>
        </p:nvGrpSpPr>
        <p:grpSpPr>
          <a:xfrm>
            <a:off x="8454900" y="6108267"/>
            <a:ext cx="9827099" cy="3979679"/>
            <a:chOff x="0" y="-47625"/>
            <a:chExt cx="2588190" cy="1048139"/>
          </a:xfrm>
        </p:grpSpPr>
        <p:sp>
          <p:nvSpPr>
            <p:cNvPr id="161" name="Google Shape;161;p10"/>
            <p:cNvSpPr/>
            <p:nvPr/>
          </p:nvSpPr>
          <p:spPr>
            <a:xfrm>
              <a:off x="0" y="0"/>
              <a:ext cx="2588190" cy="1000514"/>
            </a:xfrm>
            <a:custGeom>
              <a:rect b="b" l="l" r="r" t="t"/>
              <a:pathLst>
                <a:path extrusionOk="0"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162" name="Google Shape;162;p10"/>
            <p:cNvSpPr txBox="1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0"/>
          <p:cNvSpPr txBox="1"/>
          <p:nvPr/>
        </p:nvSpPr>
        <p:spPr>
          <a:xfrm>
            <a:off x="9745175" y="3797950"/>
            <a:ext cx="7514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R-STDP - driven</a:t>
            </a:r>
            <a:endParaRPr b="1" sz="3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Spiking Autoencoder</a:t>
            </a:r>
            <a:endParaRPr b="1" sz="1900"/>
          </a:p>
        </p:txBody>
      </p:sp>
      <p:sp>
        <p:nvSpPr>
          <p:cNvPr id="164" name="Google Shape;164;p10"/>
          <p:cNvSpPr txBox="1"/>
          <p:nvPr/>
        </p:nvSpPr>
        <p:spPr>
          <a:xfrm>
            <a:off x="8709575" y="7445013"/>
            <a:ext cx="95853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36">
                <a:latin typeface="Poppins"/>
                <a:ea typeface="Poppins"/>
                <a:cs typeface="Poppins"/>
                <a:sym typeface="Poppins"/>
              </a:rPr>
              <a:t>Energy-efficient and</a:t>
            </a:r>
            <a:endParaRPr b="1" sz="3536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36">
                <a:latin typeface="Poppins"/>
                <a:ea typeface="Poppins"/>
                <a:cs typeface="Poppins"/>
                <a:sym typeface="Poppins"/>
              </a:rPr>
              <a:t>event-driven computation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g385c9f96b9d_7_98"/>
          <p:cNvGrpSpPr/>
          <p:nvPr/>
        </p:nvGrpSpPr>
        <p:grpSpPr>
          <a:xfrm>
            <a:off x="-514350" y="-695175"/>
            <a:ext cx="8473611" cy="11915811"/>
            <a:chOff x="0" y="-47625"/>
            <a:chExt cx="1989671" cy="3138300"/>
          </a:xfrm>
        </p:grpSpPr>
        <p:sp>
          <p:nvSpPr>
            <p:cNvPr id="170" name="Google Shape;170;g385c9f96b9d_7_98"/>
            <p:cNvSpPr/>
            <p:nvPr/>
          </p:nvSpPr>
          <p:spPr>
            <a:xfrm>
              <a:off x="0" y="0"/>
              <a:ext cx="1989671" cy="3090597"/>
            </a:xfrm>
            <a:custGeom>
              <a:rect b="b" l="l" r="r" t="t"/>
              <a:pathLst>
                <a:path extrusionOk="0"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171" name="Google Shape;171;g385c9f96b9d_7_98"/>
            <p:cNvSpPr txBox="1"/>
            <p:nvPr/>
          </p:nvSpPr>
          <p:spPr>
            <a:xfrm>
              <a:off x="0" y="-47625"/>
              <a:ext cx="1989600" cy="31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g385c9f96b9d_7_98"/>
          <p:cNvSpPr txBox="1"/>
          <p:nvPr/>
        </p:nvSpPr>
        <p:spPr>
          <a:xfrm>
            <a:off x="5672850" y="883225"/>
            <a:ext cx="69423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21">
                <a:solidFill>
                  <a:srgbClr val="507563"/>
                </a:solidFill>
                <a:latin typeface="Inter"/>
                <a:ea typeface="Inter"/>
                <a:cs typeface="Inter"/>
                <a:sym typeface="Inter"/>
              </a:rPr>
              <a:t>Data Collection</a:t>
            </a:r>
            <a:endParaRPr sz="7021"/>
          </a:p>
        </p:txBody>
      </p:sp>
      <p:sp>
        <p:nvSpPr>
          <p:cNvPr id="173" name="Google Shape;173;g385c9f96b9d_7_98"/>
          <p:cNvSpPr txBox="1"/>
          <p:nvPr/>
        </p:nvSpPr>
        <p:spPr>
          <a:xfrm>
            <a:off x="537300" y="3282825"/>
            <a:ext cx="172134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19">
                <a:latin typeface="Poppins"/>
                <a:ea typeface="Poppins"/>
                <a:cs typeface="Poppins"/>
                <a:sym typeface="Poppins"/>
              </a:rPr>
              <a:t>Our research utilized two main sources of MRI data.</a:t>
            </a:r>
            <a:endParaRPr b="1" sz="3019">
              <a:latin typeface="Poppins"/>
              <a:ea typeface="Poppins"/>
              <a:cs typeface="Poppins"/>
              <a:sym typeface="Poppins"/>
            </a:endParaRPr>
          </a:p>
          <a:p>
            <a:pPr indent="-420306" lvl="0" marL="457200" marR="0" rtl="0" algn="just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3019"/>
              <a:buFont typeface="Poppins"/>
              <a:buChar char="●"/>
            </a:pPr>
            <a:r>
              <a:rPr lang="en-US" sz="3019">
                <a:latin typeface="Poppins"/>
                <a:ea typeface="Poppins"/>
                <a:cs typeface="Poppins"/>
                <a:sym typeface="Poppins"/>
              </a:rPr>
              <a:t>Publicly available MRI scans (secondary data) were used for the majority of model development and training. </a:t>
            </a:r>
            <a:endParaRPr sz="3019">
              <a:latin typeface="Poppins"/>
              <a:ea typeface="Poppins"/>
              <a:cs typeface="Poppins"/>
              <a:sym typeface="Poppins"/>
            </a:endParaRPr>
          </a:p>
          <a:p>
            <a:pPr indent="-420306" lvl="0" marL="457200" marR="0" rtl="0" algn="just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3019"/>
              <a:buFont typeface="Poppins"/>
              <a:buChar char="●"/>
            </a:pPr>
            <a:r>
              <a:rPr lang="en-US" sz="3019">
                <a:latin typeface="Poppins"/>
                <a:ea typeface="Poppins"/>
                <a:cs typeface="Poppins"/>
                <a:sym typeface="Poppins"/>
              </a:rPr>
              <a:t>Includes pre-labeled grayscale images categorized by disease states. </a:t>
            </a:r>
            <a:endParaRPr sz="3019">
              <a:latin typeface="Poppins"/>
              <a:ea typeface="Poppins"/>
              <a:cs typeface="Poppins"/>
              <a:sym typeface="Poppins"/>
            </a:endParaRPr>
          </a:p>
          <a:p>
            <a:pPr indent="-420306" lvl="0" marL="457200" marR="0" rtl="0" algn="just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3019"/>
              <a:buFont typeface="Poppins"/>
              <a:buChar char="●"/>
            </a:pPr>
            <a:r>
              <a:rPr lang="en-US" sz="3019">
                <a:latin typeface="Poppins"/>
                <a:ea typeface="Poppins"/>
                <a:cs typeface="Poppins"/>
                <a:sym typeface="Poppins"/>
              </a:rPr>
              <a:t>In addition to the secondary data, a primary dataset of MRI scans were collected from a collaborating hospital.</a:t>
            </a:r>
            <a:endParaRPr sz="3019">
              <a:latin typeface="Poppins"/>
              <a:ea typeface="Poppins"/>
              <a:cs typeface="Poppins"/>
              <a:sym typeface="Poppins"/>
            </a:endParaRPr>
          </a:p>
          <a:p>
            <a:pPr indent="-420306" lvl="0" marL="457200" marR="0" rtl="0" algn="just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3019"/>
              <a:buFont typeface="Poppins"/>
              <a:buChar char="●"/>
            </a:pPr>
            <a:r>
              <a:rPr lang="en-US" sz="3019">
                <a:latin typeface="Poppins"/>
                <a:ea typeface="Poppins"/>
                <a:cs typeface="Poppins"/>
                <a:sym typeface="Poppins"/>
              </a:rPr>
              <a:t>This data was collected by following full institutional approval and ethical guidelines.</a:t>
            </a:r>
            <a:endParaRPr sz="301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385c9f96b9d_7_98"/>
          <p:cNvSpPr txBox="1"/>
          <p:nvPr/>
        </p:nvSpPr>
        <p:spPr>
          <a:xfrm rot="5400000">
            <a:off x="15225755" y="3670792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g385c9f96b9d_7_116"/>
          <p:cNvGrpSpPr/>
          <p:nvPr/>
        </p:nvGrpSpPr>
        <p:grpSpPr>
          <a:xfrm>
            <a:off x="-5581723" y="-561310"/>
            <a:ext cx="15656479" cy="15656479"/>
            <a:chOff x="0" y="0"/>
            <a:chExt cx="812800" cy="812800"/>
          </a:xfrm>
        </p:grpSpPr>
        <p:sp>
          <p:nvSpPr>
            <p:cNvPr id="180" name="Google Shape;180;g385c9f96b9d_7_1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g385c9f96b9d_7_1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g385c9f96b9d_7_116"/>
          <p:cNvSpPr txBox="1"/>
          <p:nvPr/>
        </p:nvSpPr>
        <p:spPr>
          <a:xfrm>
            <a:off x="901650" y="2013850"/>
            <a:ext cx="12828000" cy="7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Robust Data processing pipeline to prepare MRI scans for analysis:</a:t>
            </a:r>
            <a:endParaRPr b="1" sz="3000">
              <a:solidFill>
                <a:schemeClr val="dk1"/>
              </a:solidFill>
            </a:endParaRPr>
          </a:p>
          <a:p>
            <a:pPr indent="-419100" lvl="0" marL="4572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Grayscaling of primary data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Skull stripping for removing non brain tissues from the MRI scans and isolating the brain region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Denoising using Gaussian filtering, Otsu thresholding for brain segmentation, morphological operations to remove small and unnecessary artifacts from </a:t>
            </a:r>
            <a:r>
              <a:rPr lang="en-US" sz="3000">
                <a:solidFill>
                  <a:schemeClr val="dk1"/>
                </a:solidFill>
              </a:rPr>
              <a:t>images</a:t>
            </a:r>
            <a:r>
              <a:rPr lang="en-US" sz="3000">
                <a:solidFill>
                  <a:schemeClr val="dk1"/>
                </a:solidFill>
              </a:rPr>
              <a:t>. 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Noise reduction and contrast enhancement using CLAHE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Normalization to standardize the range of pixel </a:t>
            </a:r>
            <a:r>
              <a:rPr lang="en-US" sz="3000">
                <a:solidFill>
                  <a:schemeClr val="dk1"/>
                </a:solidFill>
              </a:rPr>
              <a:t>intensity</a:t>
            </a:r>
            <a:r>
              <a:rPr lang="en-US" sz="3000">
                <a:solidFill>
                  <a:schemeClr val="dk1"/>
                </a:solidFill>
              </a:rPr>
              <a:t> values across all images </a:t>
            </a:r>
            <a:r>
              <a:rPr b="1" lang="en-US" sz="3000">
                <a:solidFill>
                  <a:schemeClr val="dk1"/>
                </a:solidFill>
              </a:rPr>
              <a:t> </a:t>
            </a:r>
            <a:endParaRPr b="1"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83" name="Google Shape;183;g385c9f96b9d_7_116"/>
          <p:cNvSpPr txBox="1"/>
          <p:nvPr/>
        </p:nvSpPr>
        <p:spPr>
          <a:xfrm>
            <a:off x="2918850" y="368850"/>
            <a:ext cx="124503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21">
                <a:solidFill>
                  <a:srgbClr val="507563"/>
                </a:solidFill>
              </a:rPr>
              <a:t>Data Processing</a:t>
            </a:r>
            <a:endParaRPr sz="100"/>
          </a:p>
        </p:txBody>
      </p:sp>
      <p:sp>
        <p:nvSpPr>
          <p:cNvPr id="184" name="Google Shape;184;g385c9f96b9d_7_116"/>
          <p:cNvSpPr txBox="1"/>
          <p:nvPr/>
        </p:nvSpPr>
        <p:spPr>
          <a:xfrm>
            <a:off x="-2743450" y="476025"/>
            <a:ext cx="62466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300">
              <a:solidFill>
                <a:srgbClr val="507563"/>
              </a:solidFill>
            </a:endParaRPr>
          </a:p>
        </p:txBody>
      </p:sp>
      <p:pic>
        <p:nvPicPr>
          <p:cNvPr id="185" name="Google Shape;185;g385c9f96b9d_7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1455" y="866875"/>
            <a:ext cx="3045244" cy="855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g385c9f96b9d_7_129"/>
          <p:cNvGrpSpPr/>
          <p:nvPr/>
        </p:nvGrpSpPr>
        <p:grpSpPr>
          <a:xfrm>
            <a:off x="-5581723" y="-561310"/>
            <a:ext cx="15656479" cy="15656479"/>
            <a:chOff x="0" y="0"/>
            <a:chExt cx="812800" cy="812800"/>
          </a:xfrm>
        </p:grpSpPr>
        <p:sp>
          <p:nvSpPr>
            <p:cNvPr id="191" name="Google Shape;191;g385c9f96b9d_7_1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g385c9f96b9d_7_12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g385c9f96b9d_7_129"/>
          <p:cNvSpPr txBox="1"/>
          <p:nvPr/>
        </p:nvSpPr>
        <p:spPr>
          <a:xfrm>
            <a:off x="901650" y="2013850"/>
            <a:ext cx="12151800" cy="6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Preprocessed images converted to spike trains using Temporal 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Encoding. Implements an intensity-to-timing mapping where higher pixel intensities generate earlier spike times.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</a:rPr>
              <a:t>       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</a:rPr>
              <a:t>Each image resized to a standard 32x32 pixel format.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</a:rPr>
              <a:t>Random weighted sampling used to overcome class imbalance in datasets and ensure each class was </a:t>
            </a:r>
            <a:r>
              <a:rPr lang="en-US" sz="3000">
                <a:solidFill>
                  <a:schemeClr val="dk1"/>
                </a:solidFill>
              </a:rPr>
              <a:t>represented adequately during training.</a:t>
            </a:r>
            <a:r>
              <a:rPr lang="en-US" sz="3000">
                <a:solidFill>
                  <a:schemeClr val="dk1"/>
                </a:solidFill>
              </a:rPr>
              <a:t> 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94" name="Google Shape;194;g385c9f96b9d_7_129"/>
          <p:cNvSpPr txBox="1"/>
          <p:nvPr/>
        </p:nvSpPr>
        <p:spPr>
          <a:xfrm>
            <a:off x="2918850" y="368850"/>
            <a:ext cx="124503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21">
                <a:solidFill>
                  <a:srgbClr val="507563"/>
                </a:solidFill>
              </a:rPr>
              <a:t>Data Processing</a:t>
            </a:r>
            <a:endParaRPr sz="100"/>
          </a:p>
        </p:txBody>
      </p:sp>
      <p:sp>
        <p:nvSpPr>
          <p:cNvPr id="195" name="Google Shape;195;g385c9f96b9d_7_129"/>
          <p:cNvSpPr txBox="1"/>
          <p:nvPr/>
        </p:nvSpPr>
        <p:spPr>
          <a:xfrm>
            <a:off x="13683050" y="7771175"/>
            <a:ext cx="40368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Fig: Original scans vs Preprocessed scans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96" name="Google Shape;196;g385c9f96b9d_7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4675" y="1868250"/>
            <a:ext cx="4253550" cy="5714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85c9f96b9d_7_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8200" y="3976075"/>
            <a:ext cx="4703875" cy="8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/>
          <p:nvPr/>
        </p:nvSpPr>
        <p:spPr>
          <a:xfrm>
            <a:off x="1130650" y="1884600"/>
            <a:ext cx="16128600" cy="17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0052" lvl="0" marL="45720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SzPts val="3015"/>
              <a:buChar char="●"/>
            </a:pPr>
            <a:r>
              <a:rPr lang="en-US" sz="3015"/>
              <a:t>Brain MRI scans collected in CDs (DICOM format)</a:t>
            </a:r>
            <a:endParaRPr sz="3015"/>
          </a:p>
          <a:p>
            <a:pPr indent="-420052" lvl="0" marL="45720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SzPts val="3015"/>
              <a:buChar char="●"/>
            </a:pPr>
            <a:r>
              <a:rPr lang="en-US" sz="3015"/>
              <a:t>Collaborating hospital: </a:t>
            </a:r>
            <a:r>
              <a:rPr lang="en-US" sz="3015">
                <a:solidFill>
                  <a:schemeClr val="dk1"/>
                </a:solidFill>
              </a:rPr>
              <a:t>National Institute of Neurosciences and Health, Agargaon</a:t>
            </a:r>
            <a:endParaRPr sz="3015"/>
          </a:p>
          <a:p>
            <a:pPr indent="-420052" lvl="0" marL="45720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SzPts val="3015"/>
              <a:buChar char="●"/>
            </a:pPr>
            <a:r>
              <a:rPr b="1" lang="en-US" sz="3015"/>
              <a:t>Data validation</a:t>
            </a:r>
            <a:r>
              <a:rPr lang="en-US" sz="3015"/>
              <a:t> by neurologist</a:t>
            </a:r>
            <a:endParaRPr sz="3015"/>
          </a:p>
        </p:txBody>
      </p:sp>
      <p:sp>
        <p:nvSpPr>
          <p:cNvPr id="203" name="Google Shape;203;p7"/>
          <p:cNvSpPr txBox="1"/>
          <p:nvPr/>
        </p:nvSpPr>
        <p:spPr>
          <a:xfrm>
            <a:off x="1692225" y="680575"/>
            <a:ext cx="155670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36">
                <a:solidFill>
                  <a:srgbClr val="507563"/>
                </a:solidFill>
              </a:rPr>
              <a:t>Primary Dataset</a:t>
            </a:r>
            <a:endParaRPr sz="1900"/>
          </a:p>
        </p:txBody>
      </p:sp>
      <p:pic>
        <p:nvPicPr>
          <p:cNvPr id="204" name="Google Shape;204;p7" title="img-00006-000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650" y="4961301"/>
            <a:ext cx="2629175" cy="343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7" title="img-00006-00015.jpg"/>
          <p:cNvPicPr preferRelativeResize="0"/>
          <p:nvPr/>
        </p:nvPicPr>
        <p:blipFill rotWithShape="1">
          <a:blip r:embed="rId4">
            <a:alphaModFix/>
          </a:blip>
          <a:srcRect b="-22369" l="0" r="-22369" t="0"/>
          <a:stretch/>
        </p:blipFill>
        <p:spPr>
          <a:xfrm>
            <a:off x="4138075" y="4961306"/>
            <a:ext cx="3452219" cy="42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7" title="img-00005-0001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4125" y="4961300"/>
            <a:ext cx="2629175" cy="3443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 title="mri_nondemente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75644" y="4833675"/>
            <a:ext cx="3207181" cy="42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 title="img-00005-00010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97950" y="4961300"/>
            <a:ext cx="2629175" cy="344324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 txBox="1"/>
          <p:nvPr/>
        </p:nvSpPr>
        <p:spPr>
          <a:xfrm>
            <a:off x="1105125" y="8565700"/>
            <a:ext cx="26292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Enlarged ventricle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4346175" y="8565700"/>
            <a:ext cx="26292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Tissue discoloration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7716375" y="8642275"/>
            <a:ext cx="51306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Atrophy(brain tissue shrinkage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4378675" y="9280425"/>
            <a:ext cx="2880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Brain scan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753175" y="576075"/>
            <a:ext cx="17301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507563"/>
                </a:solidFill>
              </a:rPr>
              <a:t>FF + RSTDP SNN Autoencoder Model Architecture</a:t>
            </a:r>
            <a:endParaRPr sz="5600"/>
          </a:p>
        </p:txBody>
      </p:sp>
      <p:sp>
        <p:nvSpPr>
          <p:cNvPr id="218" name="Google Shape;218;p8"/>
          <p:cNvSpPr txBox="1"/>
          <p:nvPr/>
        </p:nvSpPr>
        <p:spPr>
          <a:xfrm>
            <a:off x="925650" y="3263575"/>
            <a:ext cx="7292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36"/>
          </a:p>
        </p:txBody>
      </p:sp>
      <p:sp>
        <p:nvSpPr>
          <p:cNvPr id="219" name="Google Shape;219;p8"/>
          <p:cNvSpPr txBox="1"/>
          <p:nvPr/>
        </p:nvSpPr>
        <p:spPr>
          <a:xfrm>
            <a:off x="1728822" y="9039435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8" title="for nosh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700" y="2721425"/>
            <a:ext cx="13240240" cy="503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2560100" y="2388400"/>
            <a:ext cx="510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1564600" y="8616750"/>
            <a:ext cx="147030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of demented vs non demented from structural MRI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backpropagation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g385c9f96b9d_0_78"/>
          <p:cNvGrpSpPr/>
          <p:nvPr/>
        </p:nvGrpSpPr>
        <p:grpSpPr>
          <a:xfrm>
            <a:off x="-966325" y="-814400"/>
            <a:ext cx="1620786" cy="11915811"/>
            <a:chOff x="0" y="-47625"/>
            <a:chExt cx="1989671" cy="3138300"/>
          </a:xfrm>
        </p:grpSpPr>
        <p:sp>
          <p:nvSpPr>
            <p:cNvPr id="228" name="Google Shape;228;g385c9f96b9d_0_78"/>
            <p:cNvSpPr/>
            <p:nvPr/>
          </p:nvSpPr>
          <p:spPr>
            <a:xfrm>
              <a:off x="0" y="0"/>
              <a:ext cx="1989671" cy="3090597"/>
            </a:xfrm>
            <a:custGeom>
              <a:rect b="b" l="l" r="r" t="t"/>
              <a:pathLst>
                <a:path extrusionOk="0"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229" name="Google Shape;229;g385c9f96b9d_0_78"/>
            <p:cNvSpPr txBox="1"/>
            <p:nvPr/>
          </p:nvSpPr>
          <p:spPr>
            <a:xfrm>
              <a:off x="0" y="-47625"/>
              <a:ext cx="1989600" cy="31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g385c9f96b9d_0_78"/>
          <p:cNvGrpSpPr/>
          <p:nvPr/>
        </p:nvGrpSpPr>
        <p:grpSpPr>
          <a:xfrm>
            <a:off x="7181038" y="932899"/>
            <a:ext cx="11501933" cy="9618089"/>
            <a:chOff x="0" y="-47625"/>
            <a:chExt cx="812800" cy="860425"/>
          </a:xfrm>
        </p:grpSpPr>
        <p:sp>
          <p:nvSpPr>
            <p:cNvPr id="231" name="Google Shape;231;g385c9f96b9d_0_7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232" name="Google Shape;232;g385c9f96b9d_0_78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825" lIns="80825" spcFirstLastPara="1" rIns="80825" wrap="square" tIns="80825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85c9f96b9d_0_78"/>
          <p:cNvSpPr txBox="1"/>
          <p:nvPr/>
        </p:nvSpPr>
        <p:spPr>
          <a:xfrm>
            <a:off x="2845675" y="4318638"/>
            <a:ext cx="1590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07563"/>
                </a:solidFill>
                <a:latin typeface="Inter"/>
                <a:ea typeface="Inter"/>
                <a:cs typeface="Inter"/>
                <a:sym typeface="Inter"/>
              </a:rPr>
              <a:t>Forward-Forward Learning (FF)</a:t>
            </a:r>
            <a:endParaRPr sz="3200"/>
          </a:p>
        </p:txBody>
      </p:sp>
      <p:cxnSp>
        <p:nvCxnSpPr>
          <p:cNvPr id="234" name="Google Shape;234;g385c9f96b9d_0_78"/>
          <p:cNvCxnSpPr/>
          <p:nvPr/>
        </p:nvCxnSpPr>
        <p:spPr>
          <a:xfrm>
            <a:off x="654450" y="446481"/>
            <a:ext cx="0" cy="2610600"/>
          </a:xfrm>
          <a:prstGeom prst="straightConnector1">
            <a:avLst/>
          </a:prstGeom>
          <a:noFill/>
          <a:ln cap="flat" cmpd="sng" w="123825">
            <a:solidFill>
              <a:srgbClr val="507563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5" name="Google Shape;235;g385c9f96b9d_0_78"/>
          <p:cNvSpPr txBox="1"/>
          <p:nvPr/>
        </p:nvSpPr>
        <p:spPr>
          <a:xfrm>
            <a:off x="7447450" y="2510413"/>
            <a:ext cx="109794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Synaptic changes depend on spike timing and task performance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Positive reward for good output (accuracy of reconstruction)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6" name="Google Shape;236;g385c9f96b9d_0_78"/>
          <p:cNvCxnSpPr/>
          <p:nvPr/>
        </p:nvCxnSpPr>
        <p:spPr>
          <a:xfrm>
            <a:off x="654450" y="3392132"/>
            <a:ext cx="0" cy="2610600"/>
          </a:xfrm>
          <a:prstGeom prst="straightConnector1">
            <a:avLst/>
          </a:prstGeom>
          <a:noFill/>
          <a:ln cap="flat" cmpd="sng" w="123825">
            <a:solidFill>
              <a:srgbClr val="50756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7" name="Google Shape;237;g385c9f96b9d_0_78"/>
          <p:cNvCxnSpPr/>
          <p:nvPr/>
        </p:nvCxnSpPr>
        <p:spPr>
          <a:xfrm>
            <a:off x="654450" y="6337782"/>
            <a:ext cx="0" cy="2610600"/>
          </a:xfrm>
          <a:prstGeom prst="straightConnector1">
            <a:avLst/>
          </a:prstGeom>
          <a:noFill/>
          <a:ln cap="flat" cmpd="sng" w="123825">
            <a:solidFill>
              <a:srgbClr val="507563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238" name="Google Shape;238;g385c9f96b9d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62" y="1524272"/>
            <a:ext cx="6318973" cy="380946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85c9f96b9d_0_78"/>
          <p:cNvSpPr txBox="1"/>
          <p:nvPr/>
        </p:nvSpPr>
        <p:spPr>
          <a:xfrm>
            <a:off x="2179525" y="1820975"/>
            <a:ext cx="1590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07563"/>
                </a:solidFill>
                <a:latin typeface="Inter"/>
                <a:ea typeface="Inter"/>
                <a:cs typeface="Inter"/>
                <a:sym typeface="Inter"/>
              </a:rPr>
              <a:t>Reward-modulated STDP</a:t>
            </a:r>
            <a:endParaRPr sz="3200"/>
          </a:p>
        </p:txBody>
      </p:sp>
      <p:sp>
        <p:nvSpPr>
          <p:cNvPr id="240" name="Google Shape;240;g385c9f96b9d_0_78"/>
          <p:cNvSpPr txBox="1"/>
          <p:nvPr/>
        </p:nvSpPr>
        <p:spPr>
          <a:xfrm>
            <a:off x="7447450" y="5152800"/>
            <a:ext cx="109794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Positive data: if goodness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threshold, increase weight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Negative data: if goodness </a:t>
            </a:r>
            <a:r>
              <a:rPr b="1" lang="en-US" sz="2600"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 threshold,  decrease weight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Each layer maximizes goodness for +ve data, minimizes for -ve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No backpropagation or global error signals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g385c9f96b9d_0_78"/>
          <p:cNvSpPr txBox="1"/>
          <p:nvPr/>
        </p:nvSpPr>
        <p:spPr>
          <a:xfrm>
            <a:off x="1189200" y="7854525"/>
            <a:ext cx="1590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07563"/>
                </a:solidFill>
                <a:latin typeface="Inter"/>
                <a:ea typeface="Inter"/>
                <a:cs typeface="Inter"/>
                <a:sym typeface="Inter"/>
              </a:rPr>
              <a:t>Autoencoder</a:t>
            </a:r>
            <a:endParaRPr sz="3200"/>
          </a:p>
        </p:txBody>
      </p:sp>
      <p:sp>
        <p:nvSpPr>
          <p:cNvPr id="242" name="Google Shape;242;g385c9f96b9d_0_78"/>
          <p:cNvSpPr txBox="1"/>
          <p:nvPr/>
        </p:nvSpPr>
        <p:spPr>
          <a:xfrm>
            <a:off x="7447450" y="8602475"/>
            <a:ext cx="109794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Compresses high-dimensional input to a bottleneck 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Latent space (bottleneck) captures most informative features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85c9f96b9d_0_78"/>
          <p:cNvSpPr txBox="1"/>
          <p:nvPr/>
        </p:nvSpPr>
        <p:spPr>
          <a:xfrm>
            <a:off x="1016050" y="418425"/>
            <a:ext cx="15909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507563"/>
                </a:solidFill>
                <a:latin typeface="Inter"/>
                <a:ea typeface="Inter"/>
                <a:cs typeface="Inter"/>
                <a:sym typeface="Inter"/>
              </a:rPr>
              <a:t>R-STDP FF Autoencoder</a:t>
            </a:r>
            <a:endParaRPr sz="5500"/>
          </a:p>
        </p:txBody>
      </p:sp>
      <p:pic>
        <p:nvPicPr>
          <p:cNvPr id="244" name="Google Shape;244;g385c9f96b9d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496" y="7304525"/>
            <a:ext cx="3294764" cy="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85c9f96b9d_0_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0700" y="8602475"/>
            <a:ext cx="2034441" cy="9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85c9f96b9d_0_78"/>
          <p:cNvSpPr txBox="1"/>
          <p:nvPr/>
        </p:nvSpPr>
        <p:spPr>
          <a:xfrm>
            <a:off x="1478450" y="5633200"/>
            <a:ext cx="1041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R-STDP weight update: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85c9f96b9d_0_78"/>
          <p:cNvSpPr txBox="1"/>
          <p:nvPr/>
        </p:nvSpPr>
        <p:spPr>
          <a:xfrm>
            <a:off x="1478450" y="7902538"/>
            <a:ext cx="1041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Goodness score: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85c9f96b9d_0_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7799" y="6149216"/>
            <a:ext cx="4020250" cy="1115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g385c9f96b9d_0_54"/>
          <p:cNvGrpSpPr/>
          <p:nvPr/>
        </p:nvGrpSpPr>
        <p:grpSpPr>
          <a:xfrm>
            <a:off x="-116625" y="-695175"/>
            <a:ext cx="1620786" cy="11915811"/>
            <a:chOff x="0" y="-47625"/>
            <a:chExt cx="1989671" cy="3138300"/>
          </a:xfrm>
        </p:grpSpPr>
        <p:sp>
          <p:nvSpPr>
            <p:cNvPr id="254" name="Google Shape;254;g385c9f96b9d_0_54"/>
            <p:cNvSpPr/>
            <p:nvPr/>
          </p:nvSpPr>
          <p:spPr>
            <a:xfrm>
              <a:off x="0" y="0"/>
              <a:ext cx="1989671" cy="3090597"/>
            </a:xfrm>
            <a:custGeom>
              <a:rect b="b" l="l" r="r" t="t"/>
              <a:pathLst>
                <a:path extrusionOk="0"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255" name="Google Shape;255;g385c9f96b9d_0_54"/>
            <p:cNvSpPr txBox="1"/>
            <p:nvPr/>
          </p:nvSpPr>
          <p:spPr>
            <a:xfrm>
              <a:off x="0" y="-47625"/>
              <a:ext cx="1989600" cy="31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g385c9f96b9d_0_54"/>
          <p:cNvGrpSpPr/>
          <p:nvPr/>
        </p:nvGrpSpPr>
        <p:grpSpPr>
          <a:xfrm>
            <a:off x="9531300" y="-180799"/>
            <a:ext cx="9328831" cy="1300704"/>
            <a:chOff x="0" y="-47625"/>
            <a:chExt cx="812800" cy="860425"/>
          </a:xfrm>
        </p:grpSpPr>
        <p:sp>
          <p:nvSpPr>
            <p:cNvPr id="257" name="Google Shape;257;g385c9f96b9d_0_5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258" name="Google Shape;258;g385c9f96b9d_0_54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9" name="Google Shape;259;g385c9f96b9d_0_54"/>
          <p:cNvCxnSpPr/>
          <p:nvPr/>
        </p:nvCxnSpPr>
        <p:spPr>
          <a:xfrm>
            <a:off x="1504150" y="565706"/>
            <a:ext cx="0" cy="2610600"/>
          </a:xfrm>
          <a:prstGeom prst="straightConnector1">
            <a:avLst/>
          </a:prstGeom>
          <a:noFill/>
          <a:ln cap="flat" cmpd="sng" w="123825">
            <a:solidFill>
              <a:srgbClr val="50756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0" name="Google Shape;260;g385c9f96b9d_0_54"/>
          <p:cNvCxnSpPr/>
          <p:nvPr/>
        </p:nvCxnSpPr>
        <p:spPr>
          <a:xfrm>
            <a:off x="1504150" y="3511357"/>
            <a:ext cx="0" cy="2610600"/>
          </a:xfrm>
          <a:prstGeom prst="straightConnector1">
            <a:avLst/>
          </a:prstGeom>
          <a:noFill/>
          <a:ln cap="flat" cmpd="sng" w="123825">
            <a:solidFill>
              <a:srgbClr val="50756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1" name="Google Shape;261;g385c9f96b9d_0_54"/>
          <p:cNvCxnSpPr/>
          <p:nvPr/>
        </p:nvCxnSpPr>
        <p:spPr>
          <a:xfrm>
            <a:off x="1504150" y="6457007"/>
            <a:ext cx="0" cy="2610600"/>
          </a:xfrm>
          <a:prstGeom prst="straightConnector1">
            <a:avLst/>
          </a:prstGeom>
          <a:noFill/>
          <a:ln cap="flat" cmpd="sng" w="123825">
            <a:solidFill>
              <a:srgbClr val="50756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2" name="Google Shape;262;g385c9f96b9d_0_54"/>
          <p:cNvCxnSpPr/>
          <p:nvPr/>
        </p:nvCxnSpPr>
        <p:spPr>
          <a:xfrm>
            <a:off x="3908700" y="9606700"/>
            <a:ext cx="83526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g385c9f96b9d_0_54"/>
          <p:cNvSpPr txBox="1"/>
          <p:nvPr/>
        </p:nvSpPr>
        <p:spPr>
          <a:xfrm>
            <a:off x="10670300" y="-937"/>
            <a:ext cx="7300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507563"/>
                </a:solidFill>
                <a:latin typeface="Inter"/>
                <a:ea typeface="Inter"/>
                <a:cs typeface="Inter"/>
                <a:sym typeface="Inter"/>
              </a:rPr>
              <a:t>Training algorithm</a:t>
            </a:r>
            <a:endParaRPr sz="5500">
              <a:solidFill>
                <a:schemeClr val="dk1"/>
              </a:solidFill>
            </a:endParaRPr>
          </a:p>
        </p:txBody>
      </p:sp>
      <p:pic>
        <p:nvPicPr>
          <p:cNvPr id="264" name="Google Shape;264;g385c9f96b9d_0_54" title="slide flow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696" y="1272293"/>
            <a:ext cx="9615920" cy="8334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2"/>
          <p:cNvGrpSpPr/>
          <p:nvPr/>
        </p:nvGrpSpPr>
        <p:grpSpPr>
          <a:xfrm>
            <a:off x="-4174400" y="8361849"/>
            <a:ext cx="26637000" cy="2753876"/>
            <a:chOff x="0" y="-47625"/>
            <a:chExt cx="7015460" cy="860425"/>
          </a:xfrm>
        </p:grpSpPr>
        <p:sp>
          <p:nvSpPr>
            <p:cNvPr id="270" name="Google Shape;270;p12"/>
            <p:cNvSpPr/>
            <p:nvPr/>
          </p:nvSpPr>
          <p:spPr>
            <a:xfrm>
              <a:off x="0" y="0"/>
              <a:ext cx="7015459" cy="812800"/>
            </a:xfrm>
            <a:custGeom>
              <a:rect b="b" l="l" r="r" t="t"/>
              <a:pathLst>
                <a:path extrusionOk="0" h="812800" w="7015459">
                  <a:moveTo>
                    <a:pt x="0" y="0"/>
                  </a:moveTo>
                  <a:lnTo>
                    <a:pt x="7015459" y="0"/>
                  </a:lnTo>
                  <a:lnTo>
                    <a:pt x="701545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271" name="Google Shape;271;p12"/>
            <p:cNvSpPr txBox="1"/>
            <p:nvPr/>
          </p:nvSpPr>
          <p:spPr>
            <a:xfrm>
              <a:off x="0" y="-47625"/>
              <a:ext cx="701546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2"/>
          <p:cNvSpPr txBox="1"/>
          <p:nvPr/>
        </p:nvSpPr>
        <p:spPr>
          <a:xfrm>
            <a:off x="247276" y="489950"/>
            <a:ext cx="17886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21">
                <a:solidFill>
                  <a:srgbClr val="507563"/>
                </a:solidFill>
              </a:rPr>
              <a:t>Result Analysis of Proposed Model</a:t>
            </a:r>
            <a:endParaRPr sz="100"/>
          </a:p>
        </p:txBody>
      </p:sp>
      <p:pic>
        <p:nvPicPr>
          <p:cNvPr id="273" name="Google Shape;27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1025" y="2612300"/>
            <a:ext cx="7094925" cy="46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 txBox="1"/>
          <p:nvPr/>
        </p:nvSpPr>
        <p:spPr>
          <a:xfrm>
            <a:off x="741850" y="1850050"/>
            <a:ext cx="67590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741850" y="1807550"/>
            <a:ext cx="17376000" cy="7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0786925" y="6894675"/>
            <a:ext cx="734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 : Overall Performance Evaluation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7" name="Google Shape;277;p12"/>
          <p:cNvPicPr preferRelativeResize="0"/>
          <p:nvPr/>
        </p:nvPicPr>
        <p:blipFill rotWithShape="1">
          <a:blip r:embed="rId4">
            <a:alphaModFix/>
          </a:blip>
          <a:srcRect b="0" l="13472" r="0" t="0"/>
          <a:stretch/>
        </p:blipFill>
        <p:spPr>
          <a:xfrm>
            <a:off x="1024537" y="4610175"/>
            <a:ext cx="7094925" cy="24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 txBox="1"/>
          <p:nvPr/>
        </p:nvSpPr>
        <p:spPr>
          <a:xfrm>
            <a:off x="741850" y="1850050"/>
            <a:ext cx="9413400" cy="3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US" sz="2900">
                <a:solidFill>
                  <a:schemeClr val="dk1"/>
                </a:solidFill>
              </a:rPr>
              <a:t>Ensemble Classifier</a:t>
            </a:r>
            <a:r>
              <a:rPr lang="en-US" sz="2900">
                <a:solidFill>
                  <a:schemeClr val="dk1"/>
                </a:solidFill>
              </a:rPr>
              <a:t> for better performance. 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US" sz="2900">
                <a:solidFill>
                  <a:schemeClr val="dk1"/>
                </a:solidFill>
              </a:rPr>
              <a:t>Random Forest Classifier</a:t>
            </a:r>
            <a:r>
              <a:rPr lang="en-US" sz="2900">
                <a:solidFill>
                  <a:schemeClr val="dk1"/>
                </a:solidFill>
              </a:rPr>
              <a:t> with a 78.77% Accuracy and OOB score of 77.69%. 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US" sz="2900">
                <a:solidFill>
                  <a:schemeClr val="dk1"/>
                </a:solidFill>
              </a:rPr>
              <a:t>Gradient boosting</a:t>
            </a:r>
            <a:r>
              <a:rPr lang="en-US" sz="2900">
                <a:solidFill>
                  <a:schemeClr val="dk1"/>
                </a:solidFill>
              </a:rPr>
              <a:t> achieves an accuracy of 76.93%. 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Accuracy of 77.92%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1130400" y="7043000"/>
            <a:ext cx="734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 : Overall System Summary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g385c9f96b9d_5_13"/>
          <p:cNvGrpSpPr/>
          <p:nvPr/>
        </p:nvGrpSpPr>
        <p:grpSpPr>
          <a:xfrm>
            <a:off x="-4174400" y="8544372"/>
            <a:ext cx="26637152" cy="2571380"/>
            <a:chOff x="0" y="-47625"/>
            <a:chExt cx="7015500" cy="860425"/>
          </a:xfrm>
        </p:grpSpPr>
        <p:sp>
          <p:nvSpPr>
            <p:cNvPr id="285" name="Google Shape;285;g385c9f96b9d_5_13"/>
            <p:cNvSpPr/>
            <p:nvPr/>
          </p:nvSpPr>
          <p:spPr>
            <a:xfrm>
              <a:off x="0" y="0"/>
              <a:ext cx="7015459" cy="812800"/>
            </a:xfrm>
            <a:custGeom>
              <a:rect b="b" l="l" r="r" t="t"/>
              <a:pathLst>
                <a:path extrusionOk="0" h="812800" w="7015459">
                  <a:moveTo>
                    <a:pt x="0" y="0"/>
                  </a:moveTo>
                  <a:lnTo>
                    <a:pt x="7015459" y="0"/>
                  </a:lnTo>
                  <a:lnTo>
                    <a:pt x="701545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286" name="Google Shape;286;g385c9f96b9d_5_13"/>
            <p:cNvSpPr txBox="1"/>
            <p:nvPr/>
          </p:nvSpPr>
          <p:spPr>
            <a:xfrm>
              <a:off x="0" y="-47625"/>
              <a:ext cx="70155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g385c9f96b9d_5_13"/>
          <p:cNvSpPr txBox="1"/>
          <p:nvPr/>
        </p:nvSpPr>
        <p:spPr>
          <a:xfrm>
            <a:off x="247276" y="489950"/>
            <a:ext cx="17886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21">
                <a:solidFill>
                  <a:srgbClr val="507563"/>
                </a:solidFill>
              </a:rPr>
              <a:t>Result Analysis of Proposed Model</a:t>
            </a:r>
            <a:endParaRPr sz="100"/>
          </a:p>
        </p:txBody>
      </p:sp>
      <p:sp>
        <p:nvSpPr>
          <p:cNvPr id="288" name="Google Shape;288;g385c9f96b9d_5_13"/>
          <p:cNvSpPr txBox="1"/>
          <p:nvPr/>
        </p:nvSpPr>
        <p:spPr>
          <a:xfrm>
            <a:off x="741850" y="1850050"/>
            <a:ext cx="67590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85c9f96b9d_5_13"/>
          <p:cNvPicPr preferRelativeResize="0"/>
          <p:nvPr/>
        </p:nvPicPr>
        <p:blipFill rotWithShape="1">
          <a:blip r:embed="rId3">
            <a:alphaModFix/>
          </a:blip>
          <a:srcRect b="-1999" l="49109" r="0" t="2000"/>
          <a:stretch/>
        </p:blipFill>
        <p:spPr>
          <a:xfrm>
            <a:off x="890225" y="1850050"/>
            <a:ext cx="8188950" cy="61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85c9f96b9d_5_13"/>
          <p:cNvSpPr txBox="1"/>
          <p:nvPr/>
        </p:nvSpPr>
        <p:spPr>
          <a:xfrm>
            <a:off x="1605200" y="7848750"/>
            <a:ext cx="675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85c9f96b9d_5_13"/>
          <p:cNvSpPr txBox="1"/>
          <p:nvPr/>
        </p:nvSpPr>
        <p:spPr>
          <a:xfrm>
            <a:off x="1698025" y="7867275"/>
            <a:ext cx="642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85c9f96b9d_5_13"/>
          <p:cNvSpPr txBox="1"/>
          <p:nvPr/>
        </p:nvSpPr>
        <p:spPr>
          <a:xfrm>
            <a:off x="1269325" y="7421425"/>
            <a:ext cx="72867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Confusion matrix of Model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g385c9f96b9d_5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2375" y="3428988"/>
            <a:ext cx="8113025" cy="4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85c9f96b9d_5_13"/>
          <p:cNvSpPr txBox="1"/>
          <p:nvPr/>
        </p:nvSpPr>
        <p:spPr>
          <a:xfrm>
            <a:off x="9775950" y="1724150"/>
            <a:ext cx="77994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Graphs show Reconstruction Loss</a:t>
            </a:r>
            <a:r>
              <a:rPr b="1" lang="en-US" sz="2900">
                <a:solidFill>
                  <a:schemeClr val="dk1"/>
                </a:solidFill>
              </a:rPr>
              <a:t> Decreased</a:t>
            </a:r>
            <a:r>
              <a:rPr lang="en-US" sz="2900">
                <a:solidFill>
                  <a:schemeClr val="dk1"/>
                </a:solidFill>
              </a:rPr>
              <a:t>, while the Reward Signal</a:t>
            </a:r>
            <a:r>
              <a:rPr b="1" lang="en-US" sz="2900">
                <a:solidFill>
                  <a:schemeClr val="dk1"/>
                </a:solidFill>
              </a:rPr>
              <a:t> Increased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85c9f96b9d_5_13"/>
          <p:cNvSpPr txBox="1"/>
          <p:nvPr/>
        </p:nvSpPr>
        <p:spPr>
          <a:xfrm>
            <a:off x="9859200" y="7421425"/>
            <a:ext cx="76329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MSE Loss &amp; Rewards per epochs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3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01" name="Google Shape;30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3"/>
          <p:cNvSpPr txBox="1"/>
          <p:nvPr/>
        </p:nvSpPr>
        <p:spPr>
          <a:xfrm>
            <a:off x="716600" y="627900"/>
            <a:ext cx="174525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grpSp>
        <p:nvGrpSpPr>
          <p:cNvPr id="304" name="Google Shape;304;p13"/>
          <p:cNvGrpSpPr/>
          <p:nvPr/>
        </p:nvGrpSpPr>
        <p:grpSpPr>
          <a:xfrm>
            <a:off x="497802" y="-596252"/>
            <a:ext cx="3086120" cy="12187024"/>
            <a:chOff x="0" y="-47625"/>
            <a:chExt cx="812800" cy="3209730"/>
          </a:xfrm>
        </p:grpSpPr>
        <p:sp>
          <p:nvSpPr>
            <p:cNvPr id="305" name="Google Shape;305;p13"/>
            <p:cNvSpPr/>
            <p:nvPr/>
          </p:nvSpPr>
          <p:spPr>
            <a:xfrm>
              <a:off x="0" y="0"/>
              <a:ext cx="812800" cy="3162105"/>
            </a:xfrm>
            <a:custGeom>
              <a:rect b="b" l="l" r="r" t="t"/>
              <a:pathLst>
                <a:path extrusionOk="0" h="3162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62105"/>
                  </a:lnTo>
                  <a:lnTo>
                    <a:pt x="0" y="3162105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306" name="Google Shape;306;p13"/>
            <p:cNvSpPr txBox="1"/>
            <p:nvPr/>
          </p:nvSpPr>
          <p:spPr>
            <a:xfrm>
              <a:off x="0" y="-47625"/>
              <a:ext cx="812700" cy="3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13"/>
          <p:cNvSpPr txBox="1"/>
          <p:nvPr/>
        </p:nvSpPr>
        <p:spPr>
          <a:xfrm>
            <a:off x="1418350" y="276825"/>
            <a:ext cx="167508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21">
                <a:solidFill>
                  <a:srgbClr val="507563"/>
                </a:solidFill>
              </a:rPr>
              <a:t>Final Design Adjustments</a:t>
            </a:r>
            <a:endParaRPr b="1" sz="7121">
              <a:solidFill>
                <a:srgbClr val="507563"/>
              </a:solidFill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139350" y="1699125"/>
            <a:ext cx="91164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To improve Feature Extraction, we implemented </a:t>
            </a:r>
            <a:r>
              <a:rPr b="1" lang="en-US" sz="2900">
                <a:solidFill>
                  <a:schemeClr val="dk1"/>
                </a:solidFill>
              </a:rPr>
              <a:t>Transfer Learning</a:t>
            </a: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US" sz="2900">
                <a:solidFill>
                  <a:schemeClr val="dk1"/>
                </a:solidFill>
              </a:rPr>
              <a:t>ResNet-50 CNN </a:t>
            </a:r>
            <a:r>
              <a:rPr lang="en-US" sz="2900">
                <a:solidFill>
                  <a:schemeClr val="dk1"/>
                </a:solidFill>
              </a:rPr>
              <a:t>spatial features </a:t>
            </a:r>
            <a:r>
              <a:rPr lang="en-US" sz="2900">
                <a:solidFill>
                  <a:schemeClr val="dk1"/>
                </a:solidFill>
              </a:rPr>
              <a:t>obtained</a:t>
            </a:r>
            <a:r>
              <a:rPr lang="en-US" sz="2900">
                <a:solidFill>
                  <a:schemeClr val="dk1"/>
                </a:solidFill>
              </a:rPr>
              <a:t> and projected to a latent space (z_t)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Fusion with latent space from </a:t>
            </a:r>
            <a:r>
              <a:rPr b="1" lang="en-US" sz="2900">
                <a:solidFill>
                  <a:schemeClr val="dk1"/>
                </a:solidFill>
              </a:rPr>
              <a:t>R-STDP Autoencoder</a:t>
            </a:r>
            <a:r>
              <a:rPr lang="en-US" sz="2900">
                <a:solidFill>
                  <a:schemeClr val="dk1"/>
                </a:solidFill>
              </a:rPr>
              <a:t> (z_m)</a:t>
            </a:r>
            <a:endParaRPr sz="2900">
              <a:solidFill>
                <a:schemeClr val="dk1"/>
              </a:solidFill>
            </a:endParaRPr>
          </a:p>
        </p:txBody>
      </p:sp>
      <p:pic>
        <p:nvPicPr>
          <p:cNvPr id="309" name="Google Shape;309;p13"/>
          <p:cNvPicPr preferRelativeResize="0"/>
          <p:nvPr/>
        </p:nvPicPr>
        <p:blipFill rotWithShape="1">
          <a:blip r:embed="rId3">
            <a:alphaModFix/>
          </a:blip>
          <a:srcRect b="0" l="49819" r="0" t="7723"/>
          <a:stretch/>
        </p:blipFill>
        <p:spPr>
          <a:xfrm>
            <a:off x="10733925" y="1428750"/>
            <a:ext cx="6635225" cy="47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 txBox="1"/>
          <p:nvPr/>
        </p:nvSpPr>
        <p:spPr>
          <a:xfrm>
            <a:off x="11154800" y="6071075"/>
            <a:ext cx="7303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Confusion Matrix of Fusion Model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0301" y="5097175"/>
            <a:ext cx="5457725" cy="41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3"/>
          <p:cNvSpPr txBox="1"/>
          <p:nvPr/>
        </p:nvSpPr>
        <p:spPr>
          <a:xfrm>
            <a:off x="3835225" y="9111025"/>
            <a:ext cx="8506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Performance Evaluation of Fusion Model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g385c9f96b9d_5_44"/>
          <p:cNvGrpSpPr/>
          <p:nvPr/>
        </p:nvGrpSpPr>
        <p:grpSpPr>
          <a:xfrm>
            <a:off x="-4174575" y="8525852"/>
            <a:ext cx="26637152" cy="2571294"/>
            <a:chOff x="0" y="-47625"/>
            <a:chExt cx="7015500" cy="860425"/>
          </a:xfrm>
        </p:grpSpPr>
        <p:sp>
          <p:nvSpPr>
            <p:cNvPr id="318" name="Google Shape;318;g385c9f96b9d_5_44"/>
            <p:cNvSpPr/>
            <p:nvPr/>
          </p:nvSpPr>
          <p:spPr>
            <a:xfrm>
              <a:off x="0" y="0"/>
              <a:ext cx="7015459" cy="812800"/>
            </a:xfrm>
            <a:custGeom>
              <a:rect b="b" l="l" r="r" t="t"/>
              <a:pathLst>
                <a:path extrusionOk="0" h="812800" w="7015459">
                  <a:moveTo>
                    <a:pt x="0" y="0"/>
                  </a:moveTo>
                  <a:lnTo>
                    <a:pt x="7015459" y="0"/>
                  </a:lnTo>
                  <a:lnTo>
                    <a:pt x="701545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319" name="Google Shape;319;g385c9f96b9d_5_44"/>
            <p:cNvSpPr txBox="1"/>
            <p:nvPr/>
          </p:nvSpPr>
          <p:spPr>
            <a:xfrm>
              <a:off x="0" y="-47625"/>
              <a:ext cx="70155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g385c9f96b9d_5_44"/>
          <p:cNvSpPr txBox="1"/>
          <p:nvPr/>
        </p:nvSpPr>
        <p:spPr>
          <a:xfrm>
            <a:off x="247276" y="489950"/>
            <a:ext cx="17886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21">
                <a:solidFill>
                  <a:srgbClr val="507563"/>
                </a:solidFill>
              </a:rPr>
              <a:t>Comparisons</a:t>
            </a:r>
            <a:endParaRPr sz="100"/>
          </a:p>
        </p:txBody>
      </p:sp>
      <p:sp>
        <p:nvSpPr>
          <p:cNvPr id="321" name="Google Shape;321;g385c9f96b9d_5_44"/>
          <p:cNvSpPr txBox="1"/>
          <p:nvPr/>
        </p:nvSpPr>
        <p:spPr>
          <a:xfrm>
            <a:off x="741850" y="1850050"/>
            <a:ext cx="67590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85c9f96b9d_5_44"/>
          <p:cNvSpPr txBox="1"/>
          <p:nvPr/>
        </p:nvSpPr>
        <p:spPr>
          <a:xfrm>
            <a:off x="1605200" y="7848750"/>
            <a:ext cx="675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85c9f96b9d_5_44"/>
          <p:cNvSpPr txBox="1"/>
          <p:nvPr/>
        </p:nvSpPr>
        <p:spPr>
          <a:xfrm>
            <a:off x="1698025" y="7867275"/>
            <a:ext cx="642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85c9f96b9d_5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7325" y="2931750"/>
            <a:ext cx="9930824" cy="353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85c9f96b9d_5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00" y="2325200"/>
            <a:ext cx="8157274" cy="422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14"/>
          <p:cNvGrpSpPr/>
          <p:nvPr/>
        </p:nvGrpSpPr>
        <p:grpSpPr>
          <a:xfrm>
            <a:off x="481302" y="-695176"/>
            <a:ext cx="3086100" cy="12186945"/>
            <a:chOff x="0" y="-47625"/>
            <a:chExt cx="812800" cy="3209730"/>
          </a:xfrm>
        </p:grpSpPr>
        <p:sp>
          <p:nvSpPr>
            <p:cNvPr id="331" name="Google Shape;331;p14"/>
            <p:cNvSpPr/>
            <p:nvPr/>
          </p:nvSpPr>
          <p:spPr>
            <a:xfrm>
              <a:off x="0" y="0"/>
              <a:ext cx="812800" cy="3162105"/>
            </a:xfrm>
            <a:custGeom>
              <a:rect b="b" l="l" r="r" t="t"/>
              <a:pathLst>
                <a:path extrusionOk="0" h="3162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62105"/>
                  </a:lnTo>
                  <a:lnTo>
                    <a:pt x="0" y="3162105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332" name="Google Shape;332;p14"/>
            <p:cNvSpPr txBox="1"/>
            <p:nvPr/>
          </p:nvSpPr>
          <p:spPr>
            <a:xfrm>
              <a:off x="0" y="-47625"/>
              <a:ext cx="812800" cy="3209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4"/>
          <p:cNvSpPr txBox="1"/>
          <p:nvPr/>
        </p:nvSpPr>
        <p:spPr>
          <a:xfrm>
            <a:off x="1431225" y="115400"/>
            <a:ext cx="162267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21">
                <a:solidFill>
                  <a:srgbClr val="507563"/>
                </a:solidFill>
              </a:rPr>
              <a:t>Contributions, Limitations &amp; Future Work</a:t>
            </a:r>
            <a:endParaRPr sz="100"/>
          </a:p>
        </p:txBody>
      </p:sp>
      <p:sp>
        <p:nvSpPr>
          <p:cNvPr id="334" name="Google Shape;334;p14"/>
          <p:cNvSpPr txBox="1"/>
          <p:nvPr/>
        </p:nvSpPr>
        <p:spPr>
          <a:xfrm>
            <a:off x="2688975" y="1632075"/>
            <a:ext cx="65778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</a:rPr>
              <a:t>Fundamental improvements: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Energy-efficient R-STDP SNN Autoencoder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Forward-Forward learning combined with R-STDP can replace Backpropagation for feature learning.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10606075" y="1632075"/>
            <a:ext cx="65778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</a:rPr>
              <a:t>Limitations</a:t>
            </a:r>
            <a:r>
              <a:rPr b="1" lang="en-US" sz="2900">
                <a:solidFill>
                  <a:schemeClr val="dk1"/>
                </a:solidFill>
              </a:rPr>
              <a:t>: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Study focused on Binary Classification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Lack of intensive pre-processing used to preprocess MRI scans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Small size of primary dataset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5050750" y="6313825"/>
            <a:ext cx="109422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</a:rPr>
              <a:t>Future work</a:t>
            </a:r>
            <a:r>
              <a:rPr b="1" lang="en-US" sz="2900">
                <a:solidFill>
                  <a:schemeClr val="dk1"/>
                </a:solidFill>
              </a:rPr>
              <a:t>: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Multiclass Classification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Multimodal Classification using synchronous datasets from MRI-EEG patients to detect </a:t>
            </a:r>
            <a:r>
              <a:rPr lang="en-US" sz="2900">
                <a:solidFill>
                  <a:schemeClr val="dk1"/>
                </a:solidFill>
              </a:rPr>
              <a:t>neurodegenerative</a:t>
            </a:r>
            <a:r>
              <a:rPr lang="en-US" sz="2900">
                <a:solidFill>
                  <a:schemeClr val="dk1"/>
                </a:solidFill>
              </a:rPr>
              <a:t> diseases such as </a:t>
            </a:r>
            <a:r>
              <a:rPr lang="en-US" sz="2900">
                <a:solidFill>
                  <a:schemeClr val="dk1"/>
                </a:solidFill>
              </a:rPr>
              <a:t>Parkinson's.</a:t>
            </a:r>
            <a:r>
              <a:rPr lang="en-US" sz="2900">
                <a:solidFill>
                  <a:schemeClr val="dk1"/>
                </a:solidFill>
              </a:rPr>
              <a:t> </a:t>
            </a:r>
            <a:br>
              <a:rPr lang="en-US" sz="2900">
                <a:solidFill>
                  <a:schemeClr val="dk1"/>
                </a:solidFill>
              </a:rPr>
            </a:br>
            <a:endParaRPr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15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42" name="Google Shape;34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4" name="Google Shape;344;p15"/>
          <p:cNvCxnSpPr/>
          <p:nvPr/>
        </p:nvCxnSpPr>
        <p:spPr>
          <a:xfrm>
            <a:off x="17364075" y="6915141"/>
            <a:ext cx="0" cy="2610617"/>
          </a:xfrm>
          <a:prstGeom prst="straightConnector1">
            <a:avLst/>
          </a:prstGeom>
          <a:noFill/>
          <a:ln cap="flat" cmpd="sng" w="123825">
            <a:solidFill>
              <a:srgbClr val="BBDECD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345" name="Google Shape;345;p15"/>
          <p:cNvGrpSpPr/>
          <p:nvPr/>
        </p:nvGrpSpPr>
        <p:grpSpPr>
          <a:xfrm>
            <a:off x="13756206" y="-695176"/>
            <a:ext cx="6163724" cy="3266926"/>
            <a:chOff x="0" y="-47625"/>
            <a:chExt cx="1623368" cy="860425"/>
          </a:xfrm>
        </p:grpSpPr>
        <p:sp>
          <p:nvSpPr>
            <p:cNvPr id="346" name="Google Shape;346;p15"/>
            <p:cNvSpPr/>
            <p:nvPr/>
          </p:nvSpPr>
          <p:spPr>
            <a:xfrm>
              <a:off x="0" y="0"/>
              <a:ext cx="1623368" cy="812800"/>
            </a:xfrm>
            <a:custGeom>
              <a:rect b="b" l="l" r="r" t="t"/>
              <a:pathLst>
                <a:path extrusionOk="0"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347" name="Google Shape;347;p15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5"/>
          <p:cNvGrpSpPr/>
          <p:nvPr/>
        </p:nvGrpSpPr>
        <p:grpSpPr>
          <a:xfrm>
            <a:off x="-2582136" y="8181457"/>
            <a:ext cx="7059741" cy="3266926"/>
            <a:chOff x="0" y="-47625"/>
            <a:chExt cx="1859356" cy="860425"/>
          </a:xfrm>
        </p:grpSpPr>
        <p:sp>
          <p:nvSpPr>
            <p:cNvPr id="349" name="Google Shape;349;p15"/>
            <p:cNvSpPr/>
            <p:nvPr/>
          </p:nvSpPr>
          <p:spPr>
            <a:xfrm>
              <a:off x="0" y="0"/>
              <a:ext cx="1859356" cy="812800"/>
            </a:xfrm>
            <a:custGeom>
              <a:rect b="b" l="l" r="r" t="t"/>
              <a:pathLst>
                <a:path extrusionOk="0"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0E5DB"/>
            </a:solidFill>
            <a:ln>
              <a:noFill/>
            </a:ln>
          </p:spPr>
        </p:sp>
        <p:sp>
          <p:nvSpPr>
            <p:cNvPr id="350" name="Google Shape;350;p15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5"/>
          <p:cNvSpPr txBox="1"/>
          <p:nvPr/>
        </p:nvSpPr>
        <p:spPr>
          <a:xfrm>
            <a:off x="1771494" y="3057375"/>
            <a:ext cx="14745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0" u="none" cap="none" strike="noStrike">
                <a:solidFill>
                  <a:srgbClr val="50756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